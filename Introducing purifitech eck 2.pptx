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320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335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630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73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41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732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611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071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373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179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8204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645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4833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285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637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0478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049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ECCD9-8914-463A-BA6D-91D320ABDF6D}" type="datetimeFigureOut">
              <a:rPr lang="en-ZA" smtClean="0"/>
              <a:t>2026/09/17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0CA5F-1F13-477E-957F-07E39F90CB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952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622E-CFEF-7554-DB4D-F16973E2D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288" y="400051"/>
            <a:ext cx="8367711" cy="1257300"/>
          </a:xfrm>
        </p:spPr>
        <p:txBody>
          <a:bodyPr>
            <a:normAutofit fontScale="90000"/>
          </a:bodyPr>
          <a:lstStyle/>
          <a:p>
            <a:r>
              <a:rPr lang="en-ZA" dirty="0"/>
              <a:t>Introducing </a:t>
            </a:r>
            <a:r>
              <a:rPr lang="en-ZA" dirty="0" err="1"/>
              <a:t>purifitech</a:t>
            </a:r>
            <a:br>
              <a:rPr lang="en-ZA" dirty="0"/>
            </a:br>
            <a:endParaRPr lang="en-ZA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9D29355E-102A-EABA-FCE4-436533A8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300" y="1257300"/>
            <a:ext cx="7176564" cy="447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9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6E50-E295-42D5-AD2A-82483567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700088"/>
            <a:ext cx="9905998" cy="2300288"/>
          </a:xfrm>
        </p:spPr>
        <p:txBody>
          <a:bodyPr/>
          <a:lstStyle/>
          <a:p>
            <a:r>
              <a:rPr lang="en-ZA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5236-DF0C-A91F-19C8-46CC2E2DF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71526"/>
            <a:ext cx="9905999" cy="5019676"/>
          </a:xfrm>
        </p:spPr>
        <p:txBody>
          <a:bodyPr>
            <a:noAutofit/>
          </a:bodyPr>
          <a:lstStyle/>
          <a:p>
            <a:r>
              <a:rPr lang="en-GB" sz="3200" dirty="0"/>
              <a:t>Mpumalanga’s water infrastructure is threatened by toxic runoff from coal-mining activities, particularly Acid Mine Drainage (AMD), which can negatively affect water quality and make continuous monitoring and treatment necessary.</a:t>
            </a:r>
          </a:p>
          <a:p>
            <a:r>
              <a:rPr lang="en-GB" sz="3200" dirty="0"/>
              <a:t>Traditional water purification processes often rely on manual monitoring and do not provide real-time information about changes in water quality or the progress of the purification process.</a:t>
            </a: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34481907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7CF8-72F4-D0E6-139D-8DA4C612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5719"/>
          </a:xfrm>
        </p:spPr>
        <p:txBody>
          <a:bodyPr>
            <a:normAutofit fontScale="90000"/>
          </a:bodyPr>
          <a:lstStyle/>
          <a:p>
            <a:r>
              <a:rPr lang="en-ZA" b="1" u="sng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B916-A305-41DE-75FE-D74F5AB3A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42975"/>
            <a:ext cx="9905999" cy="4848226"/>
          </a:xfrm>
        </p:spPr>
        <p:txBody>
          <a:bodyPr>
            <a:normAutofit/>
          </a:bodyPr>
          <a:lstStyle/>
          <a:p>
            <a:r>
              <a:rPr lang="en-GB" sz="2800" b="1" dirty="0"/>
              <a:t>PurifiTech</a:t>
            </a:r>
            <a:r>
              <a:rPr lang="en-GB" sz="2800" dirty="0"/>
              <a:t> is a smart water purification and monitoring system designed to provide continuous monitoring and rapid response in decentralized water-treatment environments.</a:t>
            </a:r>
          </a:p>
          <a:p>
            <a:r>
              <a:rPr lang="en-GB" sz="2800" b="1" dirty="0"/>
              <a:t>Our system:</a:t>
            </a:r>
            <a:br>
              <a:rPr lang="en-GB" sz="2800" b="1" dirty="0"/>
            </a:br>
            <a:r>
              <a:rPr lang="en-GB" sz="2800" dirty="0"/>
              <a:t>*Monitors key water-quality indicators continuously</a:t>
            </a:r>
            <a:br>
              <a:rPr lang="en-GB" sz="2800" dirty="0"/>
            </a:br>
            <a:r>
              <a:rPr lang="en-GB" sz="2800" dirty="0"/>
              <a:t>*Detects abnormal conditions early</a:t>
            </a:r>
            <a:br>
              <a:rPr lang="en-GB" sz="2800" dirty="0"/>
            </a:br>
            <a:r>
              <a:rPr lang="en-GB" sz="2800" dirty="0"/>
              <a:t>*Responds automatically through a valve or dosing pump</a:t>
            </a:r>
            <a:br>
              <a:rPr lang="en-GB" sz="2800" dirty="0"/>
            </a:br>
            <a:r>
              <a:rPr lang="en-GB" sz="2800" dirty="0"/>
              <a:t>*Visualizes the treatment system through a 3D Digital Twin</a:t>
            </a:r>
            <a:br>
              <a:rPr lang="en-GB" sz="2800" dirty="0"/>
            </a:br>
            <a:r>
              <a:rPr lang="en-GB" sz="2800" dirty="0"/>
              <a:t>*Records water-quality data and system events</a:t>
            </a:r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401145280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ECC4-F8E4-0C2F-2EAB-D772BF70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57162"/>
            <a:ext cx="9905998" cy="1514476"/>
          </a:xfrm>
        </p:spPr>
        <p:txBody>
          <a:bodyPr/>
          <a:lstStyle/>
          <a:p>
            <a:r>
              <a:rPr lang="en-ZA" b="1" dirty="0"/>
              <a:t> </a:t>
            </a:r>
            <a:r>
              <a:rPr lang="en-ZA" b="1" u="sng" dirty="0"/>
              <a:t>System 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90735-57E9-4797-FB5F-73E8C98D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675" y="1028700"/>
            <a:ext cx="9905999" cy="51292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200" dirty="0"/>
              <a:t>1. </a:t>
            </a:r>
            <a:r>
              <a:rPr lang="en-GB" sz="3200" u="sng" dirty="0"/>
              <a:t>SENSE</a:t>
            </a:r>
            <a:r>
              <a:rPr lang="en-GB" sz="3200" dirty="0"/>
              <a:t> </a:t>
            </a:r>
            <a:br>
              <a:rPr lang="en-GB" sz="3200" dirty="0"/>
            </a:br>
            <a:r>
              <a:rPr lang="en-GB" sz="3200" dirty="0"/>
              <a:t>Sensors continuously measure selected water-quality parameters.</a:t>
            </a:r>
          </a:p>
          <a:p>
            <a:pPr marL="0" indent="0">
              <a:buNone/>
            </a:pPr>
            <a:r>
              <a:rPr lang="en-GB" sz="3200" dirty="0"/>
              <a:t>2</a:t>
            </a:r>
            <a:r>
              <a:rPr lang="en-GB" sz="3200" u="sng" dirty="0"/>
              <a:t>. DETECT</a:t>
            </a:r>
            <a:br>
              <a:rPr lang="en-GB" sz="3200" dirty="0"/>
            </a:br>
            <a:r>
              <a:rPr lang="en-GB" sz="3200" dirty="0"/>
              <a:t> The system processes readings locally and identifies abnormal conditions.</a:t>
            </a:r>
          </a:p>
          <a:p>
            <a:pPr marL="0" indent="0">
              <a:buNone/>
            </a:pPr>
            <a:r>
              <a:rPr lang="en-GB" sz="3200" dirty="0"/>
              <a:t>3. </a:t>
            </a:r>
            <a:r>
              <a:rPr lang="en-GB" sz="3200" u="sng" dirty="0"/>
              <a:t>DECIDE</a:t>
            </a:r>
            <a:br>
              <a:rPr lang="en-GB" sz="3200" dirty="0"/>
            </a:br>
            <a:r>
              <a:rPr lang="en-GB" sz="3200" dirty="0"/>
              <a:t> The system determines the appropriate predefined response.</a:t>
            </a:r>
          </a:p>
          <a:p>
            <a:pPr marL="0" indent="0">
              <a:buNone/>
            </a:pPr>
            <a:r>
              <a:rPr lang="en-GB" sz="3200" dirty="0"/>
              <a:t>4. ACT </a:t>
            </a:r>
            <a:br>
              <a:rPr lang="en-GB" sz="3200" dirty="0"/>
            </a:br>
            <a:r>
              <a:rPr lang="en-GB" sz="3200" dirty="0"/>
              <a:t>A physical action is triggered — such as closing a valve or activating a dosing pump.</a:t>
            </a:r>
          </a:p>
        </p:txBody>
      </p:sp>
    </p:spTree>
    <p:extLst>
      <p:ext uri="{BB962C8B-B14F-4D97-AF65-F5344CB8AC3E}">
        <p14:creationId xmlns:p14="http://schemas.microsoft.com/office/powerpoint/2010/main" val="161531257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F890-D1FD-4024-F3A8-A9A692809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200025"/>
            <a:ext cx="9905998" cy="1585913"/>
          </a:xfrm>
        </p:spPr>
        <p:txBody>
          <a:bodyPr/>
          <a:lstStyle/>
          <a:p>
            <a:r>
              <a:rPr lang="en-ZA" dirty="0"/>
              <a:t> </a:t>
            </a:r>
            <a:r>
              <a:rPr lang="en-ZA" b="1" u="sng" dirty="0"/>
              <a:t>System Methodology cont.  </a:t>
            </a:r>
            <a:endParaRPr lang="en-Z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54DA5-2FA5-A865-C2B0-F052705C1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863" y="1019174"/>
            <a:ext cx="9905999" cy="481965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14400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GB" sz="14400" u="sng" dirty="0">
                <a:latin typeface="Arial" panose="020B0604020202020204" pitchFamily="34" charset="0"/>
                <a:cs typeface="Arial" panose="020B0604020202020204" pitchFamily="34" charset="0"/>
              </a:rPr>
              <a:t>VISUALIZE </a:t>
            </a:r>
            <a:br>
              <a:rPr lang="en-GB" sz="1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400" dirty="0">
                <a:latin typeface="Arial" panose="020B0604020202020204" pitchFamily="34" charset="0"/>
                <a:cs typeface="Arial" panose="020B0604020202020204" pitchFamily="34" charset="0"/>
              </a:rPr>
              <a:t>The dashboard and 3D Digital Twin show the system's status and affected section.</a:t>
            </a:r>
          </a:p>
          <a:p>
            <a:pPr marL="0" indent="0">
              <a:buNone/>
            </a:pPr>
            <a:r>
              <a:rPr lang="en-GB" sz="14400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GB" sz="14400" u="sng" dirty="0">
                <a:latin typeface="Arial" panose="020B0604020202020204" pitchFamily="34" charset="0"/>
                <a:cs typeface="Arial" panose="020B0604020202020204" pitchFamily="34" charset="0"/>
              </a:rPr>
              <a:t>RECORD </a:t>
            </a:r>
            <a:br>
              <a:rPr lang="en-GB" sz="1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400" dirty="0">
                <a:latin typeface="Arial" panose="020B0604020202020204" pitchFamily="34" charset="0"/>
                <a:cs typeface="Arial" panose="020B0604020202020204" pitchFamily="34" charset="0"/>
              </a:rPr>
              <a:t>Readings, alerts and actions are stored for historical analysis and reporting.</a:t>
            </a:r>
            <a:endParaRPr lang="en-ZA" sz="1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400" dirty="0">
                <a:latin typeface="Arial" panose="020B0604020202020204" pitchFamily="34" charset="0"/>
                <a:cs typeface="Arial" panose="020B0604020202020204" pitchFamily="34" charset="0"/>
              </a:rPr>
              <a:t>SENSE → DETECT → DECIDE → ACT → VISUALIZE → RECORD</a:t>
            </a:r>
          </a:p>
          <a:p>
            <a:pPr marL="0" indent="0">
              <a:buNone/>
            </a:pPr>
            <a:endParaRPr lang="en-GB" sz="1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3200" b="1" u="sng" dirty="0"/>
          </a:p>
          <a:p>
            <a:pPr marL="0" indent="0">
              <a:buNone/>
            </a:pPr>
            <a:br>
              <a:rPr lang="en-ZA" sz="3200" u="sng" dirty="0"/>
            </a:br>
            <a:endParaRPr lang="en-GB" sz="3200" u="sng" dirty="0"/>
          </a:p>
        </p:txBody>
      </p:sp>
    </p:spTree>
    <p:extLst>
      <p:ext uri="{BB962C8B-B14F-4D97-AF65-F5344CB8AC3E}">
        <p14:creationId xmlns:p14="http://schemas.microsoft.com/office/powerpoint/2010/main" val="317052156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D962-793D-B4EF-E19E-1AC7D3241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426" y="285750"/>
            <a:ext cx="9932986" cy="5505451"/>
          </a:xfrm>
        </p:spPr>
        <p:txBody>
          <a:bodyPr/>
          <a:lstStyle/>
          <a:p>
            <a:pPr marL="0" indent="0">
              <a:buNone/>
            </a:pPr>
            <a:r>
              <a:rPr lang="en-GB" sz="4000" b="1" u="sng" dirty="0"/>
              <a:t>COMMERCIALISATION PATHWAY:</a:t>
            </a:r>
          </a:p>
          <a:p>
            <a:r>
              <a:rPr lang="en-ZA" sz="3200" dirty="0"/>
              <a:t>PurifiTech will progress from a prototype → field testing → pilot deployment → commercial product. </a:t>
            </a:r>
          </a:p>
          <a:p>
            <a:r>
              <a:rPr lang="en-ZA" sz="3200" dirty="0"/>
              <a:t>It will generate revenue through hardware sales, software subscriptions, installation, monitoring and maintenance, targeting mining companies, water-treatment facilities, municipalities and industrial users.</a:t>
            </a:r>
            <a:endParaRPr lang="en-GB" sz="3200" b="1" u="sng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859330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691D93-1F61-8719-AB4C-028F1943D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63" y="285750"/>
            <a:ext cx="10258425" cy="6286500"/>
          </a:xfrm>
        </p:spPr>
      </p:pic>
    </p:spTree>
    <p:extLst>
      <p:ext uri="{BB962C8B-B14F-4D97-AF65-F5344CB8AC3E}">
        <p14:creationId xmlns:p14="http://schemas.microsoft.com/office/powerpoint/2010/main" val="360646879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A09AA-831E-21D2-C80D-8EDC1553C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1" y="585788"/>
            <a:ext cx="9832973" cy="5348288"/>
          </a:xfrm>
        </p:spPr>
        <p:txBody>
          <a:bodyPr/>
          <a:lstStyle/>
          <a:p>
            <a:pPr marL="0" indent="0">
              <a:buNone/>
            </a:pPr>
            <a:r>
              <a:rPr lang="en-ZA" sz="4000" b="1" u="sng" dirty="0"/>
              <a:t>Target Market</a:t>
            </a:r>
          </a:p>
          <a:p>
            <a:pPr marL="0" indent="0">
              <a:buNone/>
            </a:pPr>
            <a:r>
              <a:rPr lang="en-GB" dirty="0"/>
              <a:t>1</a:t>
            </a:r>
            <a:r>
              <a:rPr lang="en-GB" sz="3600" b="1" dirty="0"/>
              <a:t>. </a:t>
            </a:r>
            <a:r>
              <a:rPr lang="en-GB" sz="3600" dirty="0"/>
              <a:t>Mining companies</a:t>
            </a:r>
          </a:p>
          <a:p>
            <a:pPr marL="0" indent="0">
              <a:buNone/>
            </a:pPr>
            <a:r>
              <a:rPr lang="en-GB" sz="3600" dirty="0"/>
              <a:t>2. Water-treatment operators</a:t>
            </a:r>
          </a:p>
          <a:p>
            <a:pPr marL="0" indent="0">
              <a:buNone/>
            </a:pPr>
            <a:r>
              <a:rPr lang="en-GB" sz="3600" dirty="0"/>
              <a:t>3. Municipalities</a:t>
            </a:r>
          </a:p>
          <a:p>
            <a:pPr marL="0" indent="0">
              <a:buNone/>
            </a:pPr>
            <a:r>
              <a:rPr lang="en-GB" sz="3600" dirty="0"/>
              <a:t>4. Industrial facilities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38943003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252</TotalTime>
  <Words>314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Introducing purifitech </vt:lpstr>
      <vt:lpstr>Problem statement</vt:lpstr>
      <vt:lpstr>solution</vt:lpstr>
      <vt:lpstr> System Methodology </vt:lpstr>
      <vt:lpstr> System Methodology cont.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Desire</dc:creator>
  <cp:lastModifiedBy>Desire</cp:lastModifiedBy>
  <cp:revision>2</cp:revision>
  <dcterms:created xsi:type="dcterms:W3CDTF">2026-09-17T15:45:13Z</dcterms:created>
  <dcterms:modified xsi:type="dcterms:W3CDTF">2026-09-17T20:04:18Z</dcterms:modified>
</cp:coreProperties>
</file>